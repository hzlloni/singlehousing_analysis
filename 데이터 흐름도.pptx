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presProps" Target="presProps.xml"  /><Relationship Id="rId6" Type="http://schemas.openxmlformats.org/officeDocument/2006/relationships/viewProps" Target="viewProps.xml"  /><Relationship Id="rId7" Type="http://schemas.openxmlformats.org/officeDocument/2006/relationships/theme" Target="theme/theme1.xml"  /><Relationship Id="rId8" Type="http://schemas.openxmlformats.org/officeDocument/2006/relationships/tableStyles" Target="tableStyles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E2B2BC9D-A816-4D0A-858B-1D023B3A8ACA}" type="datetime1">
              <a:rPr lang="ko-KR" altLang="en-US" smtClean="0"/>
              <a:pPr/>
              <a:t>2009-03-26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09F4262C-968C-4EE9-8164-CE16364706B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436895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en-US" altLang="ko-KR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03851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"/>
          <p:cNvGrpSpPr/>
          <p:nvPr/>
        </p:nvGrpSpPr>
        <p:grpSpPr>
          <a:xfrm rot="0">
            <a:off x="238125" y="231897"/>
            <a:ext cx="2057033" cy="6232280"/>
            <a:chOff x="238125" y="231897"/>
            <a:chExt cx="2057033" cy="6232280"/>
          </a:xfrm>
        </p:grpSpPr>
        <p:sp>
          <p:nvSpPr>
            <p:cNvPr id="12" name="모서리가 둥근 직사각형 11"/>
            <p:cNvSpPr/>
            <p:nvPr/>
          </p:nvSpPr>
          <p:spPr>
            <a:xfrm>
              <a:off x="238125" y="393822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dfe6f7"/>
            </a:solidFill>
            <a:ln w="6350">
              <a:solidFill>
                <a:srgbClr val="3f507e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4" name="원통 3"/>
            <p:cNvSpPr/>
            <p:nvPr/>
          </p:nvSpPr>
          <p:spPr>
            <a:xfrm>
              <a:off x="539037" y="714232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r>
                <a:rPr lang="en-US" altLang="ko-KR" sz="1500"/>
                <a:t>1</a:t>
              </a:r>
              <a:r>
                <a:rPr lang="ko-KR" altLang="en-US" sz="1500"/>
                <a:t>인 가구 통계</a:t>
              </a:r>
              <a:endParaRPr lang="ko-KR" altLang="en-US" sz="1500"/>
            </a:p>
          </p:txBody>
        </p:sp>
        <p:sp>
          <p:nvSpPr>
            <p:cNvPr id="5" name="원통 4"/>
            <p:cNvSpPr/>
            <p:nvPr/>
          </p:nvSpPr>
          <p:spPr>
            <a:xfrm>
              <a:off x="539037" y="1655937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원룸</a:t>
              </a:r>
              <a:r>
                <a:rPr lang="en-US" altLang="ko-KR" sz="1500"/>
                <a:t>/</a:t>
              </a:r>
              <a:r>
                <a:rPr lang="ko-KR" altLang="en-US" sz="1500"/>
                <a:t>오피스텔</a:t>
              </a:r>
              <a:r>
                <a:rPr lang="en-US" altLang="ko-KR" sz="1500"/>
                <a:t>+</a:t>
              </a:r>
              <a:r>
                <a:rPr lang="ko-KR" altLang="en-US" sz="1500"/>
                <a:t> 빈집</a:t>
              </a:r>
              <a:endParaRPr lang="ko-KR" altLang="en-US" sz="1500"/>
            </a:p>
          </p:txBody>
        </p:sp>
        <p:sp>
          <p:nvSpPr>
            <p:cNvPr id="6" name="원통 5"/>
            <p:cNvSpPr/>
            <p:nvPr/>
          </p:nvSpPr>
          <p:spPr>
            <a:xfrm>
              <a:off x="539037" y="2597642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전세</a:t>
              </a:r>
              <a:r>
                <a:rPr lang="en-US" altLang="ko-KR" sz="1500"/>
                <a:t>/</a:t>
              </a:r>
              <a:r>
                <a:rPr lang="ko-KR" altLang="en-US" sz="1500"/>
                <a:t>월세 평균</a:t>
              </a:r>
              <a:endParaRPr lang="ko-KR" altLang="en-US" sz="1500"/>
            </a:p>
          </p:txBody>
        </p:sp>
        <p:sp>
          <p:nvSpPr>
            <p:cNvPr id="9" name="원통 8"/>
            <p:cNvSpPr/>
            <p:nvPr/>
          </p:nvSpPr>
          <p:spPr>
            <a:xfrm>
              <a:off x="539037" y="3539347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교통 </a:t>
              </a:r>
              <a:r>
                <a:rPr lang="en-US" altLang="ko-KR" sz="1500"/>
                <a:t>/</a:t>
              </a:r>
              <a:r>
                <a:rPr lang="ko-KR" altLang="en-US" sz="1500"/>
                <a:t> 인프라</a:t>
              </a:r>
              <a:endParaRPr lang="ko-KR" altLang="en-US" sz="1500"/>
            </a:p>
          </p:txBody>
        </p:sp>
        <p:sp>
          <p:nvSpPr>
            <p:cNvPr id="10" name="원통 9"/>
            <p:cNvSpPr/>
            <p:nvPr/>
          </p:nvSpPr>
          <p:spPr>
            <a:xfrm>
              <a:off x="539037" y="4481052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검거율</a:t>
              </a:r>
              <a:endParaRPr lang="ko-KR" altLang="en-US" sz="1500"/>
            </a:p>
          </p:txBody>
        </p:sp>
        <p:sp>
          <p:nvSpPr>
            <p:cNvPr id="11" name="원통 10"/>
            <p:cNvSpPr/>
            <p:nvPr/>
          </p:nvSpPr>
          <p:spPr>
            <a:xfrm>
              <a:off x="539037" y="5422758"/>
              <a:ext cx="1455208" cy="833437"/>
            </a:xfrm>
            <a:prstGeom prst="can">
              <a:avLst>
                <a:gd name="adj" fmla="val 2500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 sz="1500"/>
                <a:t>의료 인프라</a:t>
              </a:r>
              <a:endParaRPr lang="ko-KR" altLang="en-US" sz="1500"/>
            </a:p>
          </p:txBody>
        </p:sp>
        <p:sp>
          <p:nvSpPr>
            <p:cNvPr id="13" name="가로 글상자 12"/>
            <p:cNvSpPr txBox="1"/>
            <p:nvPr/>
          </p:nvSpPr>
          <p:spPr>
            <a:xfrm>
              <a:off x="388580" y="231897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3f507e"/>
              </a:solidFill>
            </a:ln>
          </p:spPr>
          <p:txBody>
            <a:bodyPr wrap="square">
              <a:spAutoFit/>
            </a:bodyPr>
            <a:p>
              <a:pPr lvl="0" algn="ctr">
                <a:defRPr/>
              </a:pPr>
              <a:r>
                <a:rPr lang="ko-KR" altLang="en-US" sz="1500"/>
                <a:t>공공 데이터 수집</a:t>
              </a:r>
              <a:endParaRPr lang="ko-KR" altLang="en-US" sz="1500"/>
            </a:p>
          </p:txBody>
        </p:sp>
      </p:grpSp>
      <p:grpSp>
        <p:nvGrpSpPr>
          <p:cNvPr id="43" name=""/>
          <p:cNvGrpSpPr/>
          <p:nvPr/>
        </p:nvGrpSpPr>
        <p:grpSpPr>
          <a:xfrm rot="0">
            <a:off x="2623006" y="231897"/>
            <a:ext cx="2057033" cy="6232281"/>
            <a:chOff x="2570285" y="231897"/>
            <a:chExt cx="2057033" cy="6232281"/>
          </a:xfrm>
        </p:grpSpPr>
        <p:sp>
          <p:nvSpPr>
            <p:cNvPr id="14" name="모서리가 둥근 직사각형 13"/>
            <p:cNvSpPr/>
            <p:nvPr/>
          </p:nvSpPr>
          <p:spPr>
            <a:xfrm>
              <a:off x="2570285" y="393822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dfe6f7"/>
            </a:solidFill>
            <a:ln w="6350">
              <a:solidFill>
                <a:srgbClr val="3f507e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15" name="가로 글상자 14"/>
            <p:cNvSpPr txBox="1"/>
            <p:nvPr/>
          </p:nvSpPr>
          <p:spPr>
            <a:xfrm>
              <a:off x="2720741" y="231897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2e3e67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데이터 통합 </a:t>
              </a:r>
              <a:r>
                <a:rPr lang="en-US" altLang="ko-KR" sz="1500"/>
                <a:t>/</a:t>
              </a:r>
              <a:r>
                <a:rPr lang="ko-KR" altLang="en-US" sz="1500"/>
                <a:t> 정제</a:t>
              </a:r>
              <a:endParaRPr lang="ko-KR" altLang="en-US" sz="1500"/>
            </a:p>
          </p:txBody>
        </p:sp>
        <p:sp>
          <p:nvSpPr>
            <p:cNvPr id="16" name="모서리가 둥근 직사각형 15"/>
            <p:cNvSpPr/>
            <p:nvPr/>
          </p:nvSpPr>
          <p:spPr>
            <a:xfrm>
              <a:off x="2720741" y="2397760"/>
              <a:ext cx="1756121" cy="2062479"/>
            </a:xfrm>
            <a:prstGeom prst="roundRect">
              <a:avLst>
                <a:gd name="adj" fmla="val 16667"/>
              </a:avLst>
            </a:prstGeom>
            <a:solidFill>
              <a:srgbClr val="6182d6"/>
            </a:solidFill>
            <a:ln>
              <a:solidFill>
                <a:srgbClr val="3f507e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lvl="0" algn="ctr">
                <a:defRPr/>
              </a:pPr>
              <a:r>
                <a:rPr lang="en-US" altLang="ko-KR"/>
                <a:t>&lt;</a:t>
              </a:r>
              <a:r>
                <a:rPr lang="ko-KR" altLang="en-US"/>
                <a:t>단위</a:t>
              </a:r>
              <a:r>
                <a:rPr lang="en-US" altLang="ko-KR"/>
                <a:t>&gt;</a:t>
              </a:r>
              <a:endParaRPr lang="ko-KR" altLang="en-US"/>
            </a:p>
            <a:p>
              <a:pPr lvl="0" algn="ctr">
                <a:defRPr/>
              </a:pPr>
              <a:r>
                <a:rPr lang="ko-KR" altLang="en-US"/>
                <a:t>서울 자치구</a:t>
              </a:r>
              <a:endParaRPr lang="ko-KR" altLang="en-US"/>
            </a:p>
          </p:txBody>
        </p:sp>
      </p:grpSp>
      <p:cxnSp>
        <p:nvCxnSpPr>
          <p:cNvPr id="17" name="양방향 화살표 16"/>
          <p:cNvCxnSpPr/>
          <p:nvPr/>
        </p:nvCxnSpPr>
        <p:spPr>
          <a:xfrm>
            <a:off x="2311173" y="3429000"/>
            <a:ext cx="295817" cy="1588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양방향 화살표 16"/>
          <p:cNvCxnSpPr>
            <a:endCxn id="18" idx="1"/>
          </p:cNvCxnSpPr>
          <p:nvPr/>
        </p:nvCxnSpPr>
        <p:spPr>
          <a:xfrm>
            <a:off x="4696056" y="3429000"/>
            <a:ext cx="346703" cy="1588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"/>
          <p:cNvGrpSpPr/>
          <p:nvPr/>
        </p:nvGrpSpPr>
        <p:grpSpPr>
          <a:xfrm rot="0">
            <a:off x="5042759" y="231897"/>
            <a:ext cx="2057033" cy="6232280"/>
            <a:chOff x="4916321" y="231897"/>
            <a:chExt cx="2057033" cy="6232280"/>
          </a:xfrm>
        </p:grpSpPr>
        <p:sp>
          <p:nvSpPr>
            <p:cNvPr id="18" name="모서리가 둥근 직사각형 17"/>
            <p:cNvSpPr/>
            <p:nvPr/>
          </p:nvSpPr>
          <p:spPr>
            <a:xfrm>
              <a:off x="4916321" y="393822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e1efd3"/>
            </a:solidFill>
            <a:ln w="6350"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19" name="가로 글상자 18"/>
            <p:cNvSpPr txBox="1"/>
            <p:nvPr/>
          </p:nvSpPr>
          <p:spPr>
            <a:xfrm>
              <a:off x="5066777" y="231897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354e1b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지표 생성</a:t>
              </a:r>
              <a:endParaRPr lang="ko-KR" altLang="en-US" sz="1500"/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5066777" y="816919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/>
                <a:t>경제성</a:t>
              </a:r>
              <a:r>
                <a:rPr lang="en-US" altLang="ko-KR"/>
                <a:t>(30</a:t>
              </a:r>
              <a:r>
                <a:rPr lang="ko-KR" altLang="en-US"/>
                <a:t>점</a:t>
              </a:r>
              <a:r>
                <a:rPr lang="en-US" altLang="ko-KR"/>
                <a:t>)</a:t>
              </a:r>
              <a:endParaRPr lang="en-US" altLang="ko-KR"/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5066777" y="1892216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/>
                <a:t>경제성</a:t>
              </a:r>
              <a:r>
                <a:rPr lang="en-US" altLang="ko-KR"/>
                <a:t>(30</a:t>
              </a:r>
              <a:r>
                <a:rPr lang="ko-KR" altLang="en-US"/>
                <a:t>점</a:t>
              </a:r>
              <a:r>
                <a:rPr lang="en-US" altLang="ko-KR"/>
                <a:t>)</a:t>
              </a:r>
              <a:endParaRPr lang="en-US" altLang="ko-KR"/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5066777" y="2967513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/>
                <a:t>경제성</a:t>
              </a:r>
              <a:r>
                <a:rPr lang="en-US" altLang="ko-KR"/>
                <a:t>(30</a:t>
              </a:r>
              <a:r>
                <a:rPr lang="ko-KR" altLang="en-US"/>
                <a:t>점</a:t>
              </a:r>
              <a:r>
                <a:rPr lang="en-US" altLang="ko-KR"/>
                <a:t>)</a:t>
              </a:r>
              <a:endParaRPr lang="en-US" altLang="ko-KR"/>
            </a:p>
          </p:txBody>
        </p:sp>
        <p:sp>
          <p:nvSpPr>
            <p:cNvPr id="24" name="모서리가 둥근 직사각형 23"/>
            <p:cNvSpPr/>
            <p:nvPr/>
          </p:nvSpPr>
          <p:spPr>
            <a:xfrm>
              <a:off x="5066777" y="4042811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/>
                <a:t>경제성</a:t>
              </a:r>
              <a:r>
                <a:rPr lang="en-US" altLang="ko-KR"/>
                <a:t>(30</a:t>
              </a:r>
              <a:r>
                <a:rPr lang="ko-KR" altLang="en-US"/>
                <a:t>점</a:t>
              </a:r>
              <a:r>
                <a:rPr lang="en-US" altLang="ko-KR"/>
                <a:t>)</a:t>
              </a:r>
              <a:endParaRPr lang="en-US" altLang="ko-KR"/>
            </a:p>
          </p:txBody>
        </p:sp>
        <p:sp>
          <p:nvSpPr>
            <p:cNvPr id="25" name="모서리가 둥근 직사각형 24"/>
            <p:cNvSpPr/>
            <p:nvPr/>
          </p:nvSpPr>
          <p:spPr>
            <a:xfrm>
              <a:off x="5066777" y="5118108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4f7429"/>
            </a:solidFill>
            <a:ln>
              <a:solidFill>
                <a:srgbClr val="354e1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ko-KR" altLang="en-US"/>
                <a:t>경제성</a:t>
              </a:r>
              <a:r>
                <a:rPr lang="en-US" altLang="ko-KR"/>
                <a:t>(30</a:t>
              </a:r>
              <a:r>
                <a:rPr lang="ko-KR" altLang="en-US"/>
                <a:t>점</a:t>
              </a:r>
              <a:r>
                <a:rPr lang="en-US" altLang="ko-KR"/>
                <a:t>)</a:t>
              </a:r>
              <a:endParaRPr lang="en-US" altLang="ko-KR"/>
            </a:p>
          </p:txBody>
        </p:sp>
      </p:grpSp>
      <p:cxnSp>
        <p:nvCxnSpPr>
          <p:cNvPr id="29" name="양방향 화살표 16"/>
          <p:cNvCxnSpPr/>
          <p:nvPr/>
        </p:nvCxnSpPr>
        <p:spPr>
          <a:xfrm flipV="1">
            <a:off x="7115808" y="3429000"/>
            <a:ext cx="289002" cy="2602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"/>
          <p:cNvGrpSpPr/>
          <p:nvPr/>
        </p:nvGrpSpPr>
        <p:grpSpPr>
          <a:xfrm rot="0">
            <a:off x="7420826" y="234498"/>
            <a:ext cx="2057033" cy="6232281"/>
            <a:chOff x="7271881" y="234498"/>
            <a:chExt cx="2057033" cy="6232281"/>
          </a:xfrm>
        </p:grpSpPr>
        <p:sp>
          <p:nvSpPr>
            <p:cNvPr id="26" name="모서리가 둥근 직사각형 25"/>
            <p:cNvSpPr/>
            <p:nvPr/>
          </p:nvSpPr>
          <p:spPr>
            <a:xfrm>
              <a:off x="7271881" y="396424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fbefd4"/>
            </a:solidFill>
            <a:ln w="6350"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27" name="가로 글상자 26"/>
            <p:cNvSpPr txBox="1"/>
            <p:nvPr/>
          </p:nvSpPr>
          <p:spPr>
            <a:xfrm>
              <a:off x="7422337" y="234498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e9ae2b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지표 생성</a:t>
              </a:r>
              <a:endParaRPr lang="ko-KR" altLang="en-US" sz="1500"/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7422337" y="1586706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f2ce80"/>
            </a:solidFill>
            <a:ln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en-US" altLang="ko-KR"/>
                <a:t>PCA</a:t>
              </a:r>
              <a:r>
                <a:rPr lang="ko-KR" altLang="en-US"/>
                <a:t> 분석</a:t>
              </a:r>
              <a:endParaRPr lang="ko-KR" altLang="en-US"/>
            </a:p>
          </p:txBody>
        </p:sp>
        <p:sp>
          <p:nvSpPr>
            <p:cNvPr id="33" name="모서리가 둥근 직사각형 32"/>
            <p:cNvSpPr/>
            <p:nvPr/>
          </p:nvSpPr>
          <p:spPr>
            <a:xfrm>
              <a:off x="7422337" y="2967513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f2ce80"/>
            </a:solidFill>
            <a:ln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en-US" altLang="ko-KR"/>
                <a:t>M C D M</a:t>
              </a:r>
              <a:endParaRPr lang="en-US" altLang="ko-KR"/>
            </a:p>
          </p:txBody>
        </p:sp>
        <p:sp>
          <p:nvSpPr>
            <p:cNvPr id="34" name="모서리가 둥근 직사각형 33"/>
            <p:cNvSpPr/>
            <p:nvPr/>
          </p:nvSpPr>
          <p:spPr>
            <a:xfrm>
              <a:off x="7422337" y="4348321"/>
              <a:ext cx="1756121" cy="922972"/>
            </a:xfrm>
            <a:prstGeom prst="roundRect">
              <a:avLst>
                <a:gd name="adj" fmla="val 16667"/>
              </a:avLst>
            </a:prstGeom>
            <a:solidFill>
              <a:srgbClr val="f2ce80"/>
            </a:solidFill>
            <a:ln>
              <a:solidFill>
                <a:srgbClr val="e9ae2b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r>
                <a:rPr lang="en-US" altLang="ko-KR"/>
                <a:t>KMeans</a:t>
              </a:r>
              <a:r>
                <a:rPr lang="ko-KR" altLang="en-US"/>
                <a:t>군집화</a:t>
              </a:r>
              <a:endParaRPr lang="ko-KR" altLang="en-US"/>
            </a:p>
          </p:txBody>
        </p:sp>
      </p:grpSp>
      <p:cxnSp>
        <p:nvCxnSpPr>
          <p:cNvPr id="38" name="양방향 화살표 16"/>
          <p:cNvCxnSpPr>
            <a:stCxn id="26" idx="3"/>
          </p:cNvCxnSpPr>
          <p:nvPr/>
        </p:nvCxnSpPr>
        <p:spPr>
          <a:xfrm>
            <a:off x="9477859" y="3431602"/>
            <a:ext cx="291142" cy="1588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>
                <a:satMod val="10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"/>
          <p:cNvGrpSpPr/>
          <p:nvPr/>
        </p:nvGrpSpPr>
        <p:grpSpPr>
          <a:xfrm rot="0">
            <a:off x="9785017" y="230309"/>
            <a:ext cx="2057033" cy="6232280"/>
            <a:chOff x="9604041" y="230308"/>
            <a:chExt cx="2057033" cy="6232280"/>
          </a:xfrm>
        </p:grpSpPr>
        <p:sp>
          <p:nvSpPr>
            <p:cNvPr id="35" name="모서리가 둥근 직사각형 34"/>
            <p:cNvSpPr/>
            <p:nvPr/>
          </p:nvSpPr>
          <p:spPr>
            <a:xfrm>
              <a:off x="9604041" y="392234"/>
              <a:ext cx="2057033" cy="6070355"/>
            </a:xfrm>
            <a:prstGeom prst="roundRect">
              <a:avLst>
                <a:gd name="adj" fmla="val 16667"/>
              </a:avLst>
            </a:prstGeom>
            <a:solidFill>
              <a:srgbClr val="dfe6f7"/>
            </a:solidFill>
            <a:ln w="6350">
              <a:solidFill>
                <a:srgbClr val="2e3e67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>
                <a:ln w="9525">
                  <a:solidFill>
                    <a:schemeClr val="dk1"/>
                  </a:solidFill>
                </a:ln>
              </a:endParaRPr>
            </a:p>
          </p:txBody>
        </p:sp>
        <p:sp>
          <p:nvSpPr>
            <p:cNvPr id="36" name="가로 글상자 35"/>
            <p:cNvSpPr txBox="1"/>
            <p:nvPr/>
          </p:nvSpPr>
          <p:spPr>
            <a:xfrm>
              <a:off x="9754497" y="230308"/>
              <a:ext cx="1756121" cy="318648"/>
            </a:xfrm>
            <a:prstGeom prst="rect">
              <a:avLst/>
            </a:prstGeom>
            <a:solidFill>
              <a:schemeClr val="lt1"/>
            </a:solidFill>
            <a:ln>
              <a:solidFill>
                <a:srgbClr val="2e3e67"/>
              </a:solidFill>
            </a:ln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1500"/>
                <a:t>우수 지역 선정</a:t>
              </a:r>
              <a:endParaRPr lang="ko-KR" altLang="en-US" sz="1500"/>
            </a:p>
          </p:txBody>
        </p:sp>
        <p:grpSp>
          <p:nvGrpSpPr>
            <p:cNvPr id="42" name=""/>
            <p:cNvGrpSpPr/>
            <p:nvPr/>
          </p:nvGrpSpPr>
          <p:grpSpPr>
            <a:xfrm rot="0">
              <a:off x="9754498" y="2277110"/>
              <a:ext cx="1756121" cy="2303779"/>
              <a:chOff x="9754497" y="2200517"/>
              <a:chExt cx="1756121" cy="2303779"/>
            </a:xfrm>
          </p:grpSpPr>
          <p:sp>
            <p:nvSpPr>
              <p:cNvPr id="39" name="모서리가 둥근 직사각형 38"/>
              <p:cNvSpPr/>
              <p:nvPr/>
            </p:nvSpPr>
            <p:spPr>
              <a:xfrm>
                <a:off x="9754497" y="2200517"/>
                <a:ext cx="1756121" cy="922972"/>
              </a:xfrm>
              <a:prstGeom prst="roundRect">
                <a:avLst>
                  <a:gd name="adj" fmla="val 16667"/>
                </a:avLst>
              </a:prstGeom>
              <a:solidFill>
                <a:srgbClr val="6182d6"/>
              </a:solidFill>
              <a:ln>
                <a:solidFill>
                  <a:srgbClr val="3f507e"/>
                </a:solidFill>
              </a:ln>
            </p:spPr>
            <p:style>
              <a:lnRef idx="2">
                <a:schemeClr val="accent1">
                  <a:shade val="2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ko-KR" altLang="en-US"/>
                  <a:t>종합 점수 산출</a:t>
                </a:r>
                <a:endParaRPr lang="ko-KR" altLang="en-US"/>
              </a:p>
            </p:txBody>
          </p:sp>
          <p:sp>
            <p:nvSpPr>
              <p:cNvPr id="40" name="모서리가 둥근 직사각형 39"/>
              <p:cNvSpPr/>
              <p:nvPr/>
            </p:nvSpPr>
            <p:spPr>
              <a:xfrm>
                <a:off x="9754497" y="3581325"/>
                <a:ext cx="1756121" cy="922972"/>
              </a:xfrm>
              <a:prstGeom prst="roundRect">
                <a:avLst>
                  <a:gd name="adj" fmla="val 16667"/>
                </a:avLst>
              </a:prstGeom>
              <a:solidFill>
                <a:srgbClr val="6182d6"/>
              </a:solidFill>
              <a:ln>
                <a:solidFill>
                  <a:srgbClr val="3f507e"/>
                </a:solidFill>
              </a:ln>
            </p:spPr>
            <p:style>
              <a:lnRef idx="2">
                <a:schemeClr val="accent1">
                  <a:shade val="2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ko-KR" altLang="en-US"/>
                  <a:t>추천 지역</a:t>
                </a:r>
                <a:endParaRPr lang="ko-KR" altLang="en-US"/>
              </a:p>
              <a:p>
                <a:pPr lvl="0" algn="ctr">
                  <a:defRPr/>
                </a:pPr>
                <a:r>
                  <a:rPr lang="en-US" altLang="ko-KR"/>
                  <a:t>TOP5</a:t>
                </a:r>
                <a:endParaRPr lang="en-US" altLang="ko-K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223695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모서리가 둥근 직사각형 12"/>
          <p:cNvSpPr/>
          <p:nvPr/>
        </p:nvSpPr>
        <p:spPr>
          <a:xfrm>
            <a:off x="2793999" y="2456701"/>
            <a:ext cx="6604001" cy="1944597"/>
          </a:xfrm>
          <a:prstGeom prst="roundRect">
            <a:avLst>
              <a:gd name="adj" fmla="val 16667"/>
            </a:avLst>
          </a:prstGeom>
          <a:solidFill>
            <a:srgbClr val="f9f8f3"/>
          </a:solidFill>
          <a:ln w="38100">
            <a:solidFill>
              <a:srgbClr val="e3dcc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lvl="0" algn="ctr">
              <a:defRPr/>
            </a:pPr>
            <a:endParaRPr lang="ko-KR" altLang="en-US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66729" y="2658449"/>
            <a:ext cx="1546482" cy="1060217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853785" y="2658450"/>
            <a:ext cx="1590326" cy="1060217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684684" y="2658449"/>
            <a:ext cx="1209844" cy="1000264"/>
          </a:xfrm>
          <a:prstGeom prst="rect">
            <a:avLst/>
          </a:prstGeom>
        </p:spPr>
      </p:pic>
      <p:sp>
        <p:nvSpPr>
          <p:cNvPr id="14" name="가로 글상자 13"/>
          <p:cNvSpPr txBox="1"/>
          <p:nvPr/>
        </p:nvSpPr>
        <p:spPr>
          <a:xfrm>
            <a:off x="1915938" y="3245708"/>
            <a:ext cx="1756121" cy="366584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/>
              <a:t>결과 시각화</a:t>
            </a:r>
            <a:endParaRPr lang="ko-KR" altLang="en-US"/>
          </a:p>
        </p:txBody>
      </p:sp>
      <p:sp>
        <p:nvSpPr>
          <p:cNvPr id="15" name="가로 글상자 14"/>
          <p:cNvSpPr txBox="1"/>
          <p:nvPr/>
        </p:nvSpPr>
        <p:spPr>
          <a:xfrm>
            <a:off x="4066729" y="3919715"/>
            <a:ext cx="1546482" cy="336055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/>
              <a:t>추천 지도</a:t>
            </a:r>
            <a:endParaRPr lang="ko-KR" altLang="en-US" sz="1600"/>
          </a:p>
        </p:txBody>
      </p:sp>
      <p:sp>
        <p:nvSpPr>
          <p:cNvPr id="17" name="가로 글상자 16"/>
          <p:cNvSpPr txBox="1"/>
          <p:nvPr/>
        </p:nvSpPr>
        <p:spPr>
          <a:xfrm>
            <a:off x="5853785" y="3919715"/>
            <a:ext cx="1546482" cy="336055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/>
              <a:t>분석 차트</a:t>
            </a:r>
            <a:endParaRPr lang="ko-KR" altLang="en-US" sz="1600"/>
          </a:p>
        </p:txBody>
      </p:sp>
      <p:sp>
        <p:nvSpPr>
          <p:cNvPr id="18" name="가로 글상자 17"/>
          <p:cNvSpPr txBox="1"/>
          <p:nvPr/>
        </p:nvSpPr>
        <p:spPr>
          <a:xfrm>
            <a:off x="7516365" y="3919715"/>
            <a:ext cx="1546482" cy="336055"/>
          </a:xfrm>
          <a:prstGeom prst="rect">
            <a:avLst/>
          </a:prstGeom>
          <a:solidFill>
            <a:schemeClr val="lt1"/>
          </a:solidFill>
          <a:ln>
            <a:solidFill>
              <a:srgbClr val="e3dcc1"/>
            </a:solidFill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600"/>
              <a:t>관련 정책 설계</a:t>
            </a:r>
            <a:endParaRPr lang="ko-KR" altLang="en-US" sz="1600"/>
          </a:p>
        </p:txBody>
      </p:sp>
    </p:spTree>
    <p:extLst>
      <p:ext uri="{BB962C8B-B14F-4D97-AF65-F5344CB8AC3E}">
        <p14:creationId xmlns:p14="http://schemas.microsoft.com/office/powerpoint/2010/main" val="431896259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55</ep:Words>
  <ep:PresentationFormat>화면 슬라이드 쇼(4:3)</ep:PresentationFormat>
  <ep:Paragraphs>5</ep:Paragraphs>
  <ep:Slides>2</ep:Slides>
  <ep:Notes>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ep:HeadingPairs>
  <ep:TitlesOfParts>
    <vt:vector size="3" baseType="lpstr">
      <vt:lpstr>한컴오피스</vt:lpstr>
      <vt:lpstr>슬라이드 1</vt:lpstr>
      <vt:lpstr>슬라이드 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2026-01-19T04:20:46.330</dcterms:created>
  <dc:creator>82109</dc:creator>
  <cp:lastModifiedBy>82109</cp:lastModifiedBy>
  <dcterms:modified xsi:type="dcterms:W3CDTF">2026-01-19T04:55:14.484</dcterms:modified>
  <cp:revision>9</cp:revision>
  <cp:version>12.0.0.4426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