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689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0385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"/>
          <p:cNvGrpSpPr/>
          <p:nvPr/>
        </p:nvGrpSpPr>
        <p:grpSpPr>
          <a:xfrm rot="0">
            <a:off x="238125" y="231897"/>
            <a:ext cx="2057033" cy="6232280"/>
            <a:chOff x="238125" y="231897"/>
            <a:chExt cx="2057033" cy="6232280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238125" y="393822"/>
              <a:ext cx="2057033" cy="607035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 w="6350">
              <a:solidFill>
                <a:srgbClr val="3f507e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4" name="원통 3"/>
            <p:cNvSpPr/>
            <p:nvPr/>
          </p:nvSpPr>
          <p:spPr>
            <a:xfrm>
              <a:off x="539037" y="714232"/>
              <a:ext cx="1455208" cy="833437"/>
            </a:xfrm>
            <a:prstGeom prst="can">
              <a:avLst>
                <a:gd name="adj" fmla="val 25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1500"/>
                <a:t>1</a:t>
              </a:r>
              <a:r>
                <a:rPr lang="ko-KR" altLang="en-US" sz="1500"/>
                <a:t>인 가구 통계</a:t>
              </a:r>
              <a:endParaRPr lang="ko-KR" altLang="en-US" sz="1500"/>
            </a:p>
          </p:txBody>
        </p:sp>
        <p:sp>
          <p:nvSpPr>
            <p:cNvPr id="5" name="원통 4"/>
            <p:cNvSpPr/>
            <p:nvPr/>
          </p:nvSpPr>
          <p:spPr>
            <a:xfrm>
              <a:off x="539037" y="1655937"/>
              <a:ext cx="1455208" cy="833437"/>
            </a:xfrm>
            <a:prstGeom prst="can">
              <a:avLst>
                <a:gd name="adj" fmla="val 25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500"/>
                <a:t>원룸</a:t>
              </a:r>
              <a:r>
                <a:rPr lang="en-US" altLang="ko-KR" sz="1500"/>
                <a:t>/</a:t>
              </a:r>
              <a:r>
                <a:rPr lang="ko-KR" altLang="en-US" sz="1500"/>
                <a:t>오피스텔</a:t>
              </a:r>
              <a:r>
                <a:rPr lang="en-US" altLang="ko-KR" sz="1500"/>
                <a:t>+</a:t>
              </a:r>
              <a:r>
                <a:rPr lang="ko-KR" altLang="en-US" sz="1500"/>
                <a:t> 빈집</a:t>
              </a:r>
              <a:endParaRPr lang="ko-KR" altLang="en-US" sz="1500"/>
            </a:p>
          </p:txBody>
        </p:sp>
        <p:sp>
          <p:nvSpPr>
            <p:cNvPr id="6" name="원통 5"/>
            <p:cNvSpPr/>
            <p:nvPr/>
          </p:nvSpPr>
          <p:spPr>
            <a:xfrm>
              <a:off x="539037" y="2597642"/>
              <a:ext cx="1455208" cy="833437"/>
            </a:xfrm>
            <a:prstGeom prst="can">
              <a:avLst>
                <a:gd name="adj" fmla="val 25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500"/>
                <a:t>전세</a:t>
              </a:r>
              <a:r>
                <a:rPr lang="en-US" altLang="ko-KR" sz="1500"/>
                <a:t>/</a:t>
              </a:r>
              <a:r>
                <a:rPr lang="ko-KR" altLang="en-US" sz="1500"/>
                <a:t>월세 평균</a:t>
              </a:r>
              <a:endParaRPr lang="ko-KR" altLang="en-US" sz="1500"/>
            </a:p>
          </p:txBody>
        </p:sp>
        <p:sp>
          <p:nvSpPr>
            <p:cNvPr id="9" name="원통 8"/>
            <p:cNvSpPr/>
            <p:nvPr/>
          </p:nvSpPr>
          <p:spPr>
            <a:xfrm>
              <a:off x="539037" y="3539347"/>
              <a:ext cx="1455208" cy="833437"/>
            </a:xfrm>
            <a:prstGeom prst="can">
              <a:avLst>
                <a:gd name="adj" fmla="val 25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500"/>
                <a:t>교통 </a:t>
              </a:r>
              <a:r>
                <a:rPr lang="en-US" altLang="ko-KR" sz="1500"/>
                <a:t>/</a:t>
              </a:r>
              <a:r>
                <a:rPr lang="ko-KR" altLang="en-US" sz="1500"/>
                <a:t> 인프라</a:t>
              </a:r>
              <a:endParaRPr lang="ko-KR" altLang="en-US" sz="1500"/>
            </a:p>
          </p:txBody>
        </p:sp>
        <p:sp>
          <p:nvSpPr>
            <p:cNvPr id="10" name="원통 9"/>
            <p:cNvSpPr/>
            <p:nvPr/>
          </p:nvSpPr>
          <p:spPr>
            <a:xfrm>
              <a:off x="539037" y="4481052"/>
              <a:ext cx="1455208" cy="833437"/>
            </a:xfrm>
            <a:prstGeom prst="can">
              <a:avLst>
                <a:gd name="adj" fmla="val 25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500"/>
                <a:t>검거율</a:t>
              </a:r>
              <a:endParaRPr lang="ko-KR" altLang="en-US" sz="1500"/>
            </a:p>
          </p:txBody>
        </p:sp>
        <p:sp>
          <p:nvSpPr>
            <p:cNvPr id="11" name="원통 10"/>
            <p:cNvSpPr/>
            <p:nvPr/>
          </p:nvSpPr>
          <p:spPr>
            <a:xfrm>
              <a:off x="539037" y="5422758"/>
              <a:ext cx="1455208" cy="833437"/>
            </a:xfrm>
            <a:prstGeom prst="can">
              <a:avLst>
                <a:gd name="adj" fmla="val 25000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500"/>
                <a:t>의료 인프라</a:t>
              </a:r>
              <a:endParaRPr lang="ko-KR" altLang="en-US" sz="1500"/>
            </a:p>
          </p:txBody>
        </p:sp>
        <p:sp>
          <p:nvSpPr>
            <p:cNvPr id="13" name="가로 글상자 12"/>
            <p:cNvSpPr txBox="1"/>
            <p:nvPr/>
          </p:nvSpPr>
          <p:spPr>
            <a:xfrm>
              <a:off x="388580" y="231897"/>
              <a:ext cx="1756121" cy="318648"/>
            </a:xfrm>
            <a:prstGeom prst="rect">
              <a:avLst/>
            </a:prstGeom>
            <a:solidFill>
              <a:schemeClr val="lt1"/>
            </a:solidFill>
            <a:ln>
              <a:solidFill>
                <a:srgbClr val="3f507e"/>
              </a:solidFill>
            </a:ln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ko-KR" altLang="en-US" sz="1500"/>
                <a:t>공공 데이터 수집</a:t>
              </a:r>
              <a:endParaRPr lang="ko-KR" altLang="en-US" sz="1500"/>
            </a:p>
          </p:txBody>
        </p:sp>
      </p:grpSp>
      <p:grpSp>
        <p:nvGrpSpPr>
          <p:cNvPr id="43" name=""/>
          <p:cNvGrpSpPr/>
          <p:nvPr/>
        </p:nvGrpSpPr>
        <p:grpSpPr>
          <a:xfrm rot="0">
            <a:off x="2623006" y="231897"/>
            <a:ext cx="2057033" cy="6232281"/>
            <a:chOff x="2570285" y="231897"/>
            <a:chExt cx="2057033" cy="6232281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2570285" y="393822"/>
              <a:ext cx="2057033" cy="607035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 w="6350">
              <a:solidFill>
                <a:srgbClr val="3f507e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ln w="9525">
                  <a:solidFill>
                    <a:schemeClr val="dk1"/>
                  </a:solidFill>
                </a:ln>
              </a:endParaRPr>
            </a:p>
          </p:txBody>
        </p:sp>
        <p:sp>
          <p:nvSpPr>
            <p:cNvPr id="15" name="가로 글상자 14"/>
            <p:cNvSpPr txBox="1"/>
            <p:nvPr/>
          </p:nvSpPr>
          <p:spPr>
            <a:xfrm>
              <a:off x="2720741" y="231897"/>
              <a:ext cx="1756121" cy="318648"/>
            </a:xfrm>
            <a:prstGeom prst="rect">
              <a:avLst/>
            </a:prstGeom>
            <a:solidFill>
              <a:schemeClr val="lt1"/>
            </a:solidFill>
            <a:ln>
              <a:solidFill>
                <a:srgbClr val="2e3e67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/>
                <a:t>데이터 통합 </a:t>
              </a:r>
              <a:r>
                <a:rPr lang="en-US" altLang="ko-KR" sz="1500"/>
                <a:t>/</a:t>
              </a:r>
              <a:r>
                <a:rPr lang="ko-KR" altLang="en-US" sz="1500"/>
                <a:t> 정제</a:t>
              </a:r>
              <a:endParaRPr lang="ko-KR" altLang="en-US" sz="150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2720741" y="2397760"/>
              <a:ext cx="1756121" cy="2062479"/>
            </a:xfrm>
            <a:prstGeom prst="roundRect">
              <a:avLst>
                <a:gd name="adj" fmla="val 16667"/>
              </a:avLst>
            </a:prstGeom>
            <a:solidFill>
              <a:srgbClr val="6182d6"/>
            </a:solidFill>
            <a:ln>
              <a:solidFill>
                <a:srgbClr val="3f507e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/>
                <a:t>&lt;</a:t>
              </a:r>
              <a:r>
                <a:rPr lang="ko-KR" altLang="en-US"/>
                <a:t>단위</a:t>
              </a:r>
              <a:r>
                <a:rPr lang="en-US" altLang="ko-KR"/>
                <a:t>&gt;</a:t>
              </a:r>
              <a:endParaRPr lang="en-US" altLang="ko-KR"/>
            </a:p>
            <a:p>
              <a:pPr lvl="0" algn="ctr">
                <a:defRPr/>
              </a:pPr>
              <a:r>
                <a:rPr lang="ko-KR" altLang="en-US"/>
                <a:t>서울 자치구</a:t>
              </a:r>
              <a:endParaRPr lang="ko-KR" altLang="en-US"/>
            </a:p>
          </p:txBody>
        </p:sp>
      </p:grpSp>
      <p:cxnSp>
        <p:nvCxnSpPr>
          <p:cNvPr id="17" name="양방향 화살표 16"/>
          <p:cNvCxnSpPr/>
          <p:nvPr/>
        </p:nvCxnSpPr>
        <p:spPr>
          <a:xfrm>
            <a:off x="2311173" y="3429000"/>
            <a:ext cx="295817" cy="158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양방향 화살표 16"/>
          <p:cNvCxnSpPr>
            <a:endCxn id="18" idx="1"/>
          </p:cNvCxnSpPr>
          <p:nvPr/>
        </p:nvCxnSpPr>
        <p:spPr>
          <a:xfrm>
            <a:off x="4696056" y="3429000"/>
            <a:ext cx="346703" cy="158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"/>
          <p:cNvGrpSpPr/>
          <p:nvPr/>
        </p:nvGrpSpPr>
        <p:grpSpPr>
          <a:xfrm rot="0">
            <a:off x="5042759" y="231897"/>
            <a:ext cx="2057033" cy="6232280"/>
            <a:chOff x="4916321" y="231897"/>
            <a:chExt cx="2057033" cy="6232280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4916321" y="393822"/>
              <a:ext cx="2057033" cy="6070355"/>
            </a:xfrm>
            <a:prstGeom prst="roundRect">
              <a:avLst>
                <a:gd name="adj" fmla="val 16667"/>
              </a:avLst>
            </a:prstGeom>
            <a:solidFill>
              <a:srgbClr val="e1efd3"/>
            </a:solidFill>
            <a:ln w="6350">
              <a:solidFill>
                <a:srgbClr val="354e1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ln w="9525">
                  <a:solidFill>
                    <a:schemeClr val="dk1"/>
                  </a:solidFill>
                </a:ln>
              </a:endParaRPr>
            </a:p>
          </p:txBody>
        </p:sp>
        <p:sp>
          <p:nvSpPr>
            <p:cNvPr id="19" name="가로 글상자 18"/>
            <p:cNvSpPr txBox="1"/>
            <p:nvPr/>
          </p:nvSpPr>
          <p:spPr>
            <a:xfrm>
              <a:off x="5066777" y="231897"/>
              <a:ext cx="1756121" cy="318648"/>
            </a:xfrm>
            <a:prstGeom prst="rect">
              <a:avLst/>
            </a:prstGeom>
            <a:solidFill>
              <a:schemeClr val="lt1"/>
            </a:solidFill>
            <a:ln>
              <a:solidFill>
                <a:srgbClr val="354e1b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/>
                <a:t>지표 생성</a:t>
              </a:r>
              <a:endParaRPr lang="ko-KR" altLang="en-US" sz="1500"/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5066777" y="635944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4f7429"/>
            </a:solidFill>
            <a:ln>
              <a:solidFill>
                <a:srgbClr val="354e1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b="1"/>
                <a:t>적합성</a:t>
              </a:r>
              <a:endParaRPr lang="ko-KR" altLang="en-US" b="1"/>
            </a:p>
            <a:p>
              <a:pPr lvl="0" algn="ctr">
                <a:defRPr/>
              </a:pPr>
              <a:r>
                <a:rPr lang="en-US" altLang="ko-KR" sz="1300"/>
                <a:t>(1</a:t>
              </a:r>
              <a:r>
                <a:rPr lang="ko-KR" altLang="en-US" sz="1300"/>
                <a:t>인 가구 수 </a:t>
              </a:r>
              <a:r>
                <a:rPr lang="en-US" altLang="ko-KR" sz="1300"/>
                <a:t>+</a:t>
              </a:r>
              <a:endParaRPr lang="en-US" altLang="ko-KR" sz="1300"/>
            </a:p>
            <a:p>
              <a:pPr lvl="0" algn="ctr">
                <a:defRPr/>
              </a:pPr>
              <a:r>
                <a:rPr lang="ko-KR" altLang="en-US" sz="1300"/>
                <a:t>원룸 및 오피스텔 수</a:t>
              </a:r>
              <a:r>
                <a:rPr lang="en-US" altLang="ko-KR" sz="1300"/>
                <a:t>)</a:t>
              </a:r>
              <a:endParaRPr lang="en-US" altLang="ko-KR" sz="1300"/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066777" y="1598605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4f7429"/>
            </a:solidFill>
            <a:ln>
              <a:solidFill>
                <a:srgbClr val="354e1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b="1"/>
                <a:t>주거비용</a:t>
              </a:r>
              <a:endParaRPr lang="ko-KR" altLang="en-US"/>
            </a:p>
            <a:p>
              <a:pPr lvl="0" algn="ctr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평당 월세 평균</a:t>
              </a:r>
              <a:r>
                <a:rPr lang="en-US" altLang="ko-KR" sz="1300"/>
                <a:t>)</a:t>
              </a:r>
              <a:endParaRPr lang="en-US" altLang="ko-KR" sz="1300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5066777" y="2561267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4f7429"/>
            </a:solidFill>
            <a:ln>
              <a:solidFill>
                <a:srgbClr val="354e1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b="1"/>
                <a:t>의료시설</a:t>
              </a:r>
              <a:endParaRPr lang="ko-KR" altLang="en-US"/>
            </a:p>
            <a:p>
              <a:pPr lvl="0" algn="ctr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병원 수 </a:t>
              </a:r>
              <a:r>
                <a:rPr lang="en-US" altLang="ko-KR" sz="1300"/>
                <a:t>+</a:t>
              </a:r>
              <a:r>
                <a:rPr lang="ko-KR" altLang="en-US" sz="1300"/>
                <a:t> 약국 수</a:t>
              </a:r>
              <a:r>
                <a:rPr lang="en-US" altLang="ko-KR" sz="1300"/>
                <a:t>)</a:t>
              </a:r>
              <a:endParaRPr lang="en-US" altLang="ko-KR" sz="1300"/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5066777" y="3523929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4f7429"/>
            </a:solidFill>
            <a:ln>
              <a:solidFill>
                <a:srgbClr val="354e1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b="1"/>
                <a:t>치안</a:t>
              </a:r>
              <a:endParaRPr lang="ko-KR" altLang="en-US"/>
            </a:p>
            <a:p>
              <a:pPr lvl="0" algn="ctr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검거율</a:t>
              </a:r>
              <a:r>
                <a:rPr lang="en-US" altLang="ko-KR" sz="1300"/>
                <a:t>)</a:t>
              </a:r>
              <a:endParaRPr lang="en-US" altLang="ko-KR" sz="1300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5066777" y="4486591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4f7429"/>
            </a:solidFill>
            <a:ln>
              <a:solidFill>
                <a:srgbClr val="354e1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b="1"/>
                <a:t>인프라</a:t>
              </a:r>
              <a:endParaRPr lang="ko-KR" altLang="en-US"/>
            </a:p>
            <a:p>
              <a:pPr lvl="0" algn="ctr">
                <a:defRPr/>
              </a:pPr>
              <a:r>
                <a:rPr lang="en-US" altLang="ko-KR" sz="1300"/>
                <a:t>(</a:t>
              </a:r>
              <a:r>
                <a:rPr lang="ko-KR" altLang="en-US" sz="1300"/>
                <a:t>대규모 점포 수</a:t>
              </a:r>
              <a:r>
                <a:rPr lang="en-US" altLang="ko-KR" sz="1300"/>
                <a:t>)</a:t>
              </a:r>
              <a:endParaRPr lang="en-US" altLang="ko-KR" sz="1300"/>
            </a:p>
          </p:txBody>
        </p:sp>
      </p:grpSp>
      <p:cxnSp>
        <p:nvCxnSpPr>
          <p:cNvPr id="29" name="양방향 화살표 16"/>
          <p:cNvCxnSpPr/>
          <p:nvPr/>
        </p:nvCxnSpPr>
        <p:spPr>
          <a:xfrm flipV="1">
            <a:off x="7115808" y="3429000"/>
            <a:ext cx="289002" cy="260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"/>
          <p:cNvGrpSpPr/>
          <p:nvPr/>
        </p:nvGrpSpPr>
        <p:grpSpPr>
          <a:xfrm rot="0">
            <a:off x="7420826" y="234498"/>
            <a:ext cx="2057033" cy="6232281"/>
            <a:chOff x="7271881" y="234498"/>
            <a:chExt cx="2057033" cy="6232281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7271881" y="396424"/>
              <a:ext cx="2057033" cy="6070355"/>
            </a:xfrm>
            <a:prstGeom prst="roundRect">
              <a:avLst>
                <a:gd name="adj" fmla="val 16667"/>
              </a:avLst>
            </a:prstGeom>
            <a:solidFill>
              <a:srgbClr val="fbefd4"/>
            </a:solidFill>
            <a:ln w="6350">
              <a:solidFill>
                <a:srgbClr val="e9ae2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ln w="9525">
                  <a:solidFill>
                    <a:schemeClr val="dk1"/>
                  </a:solidFill>
                </a:ln>
              </a:endParaRPr>
            </a:p>
          </p:txBody>
        </p:sp>
        <p:sp>
          <p:nvSpPr>
            <p:cNvPr id="27" name="가로 글상자 26"/>
            <p:cNvSpPr txBox="1"/>
            <p:nvPr/>
          </p:nvSpPr>
          <p:spPr>
            <a:xfrm>
              <a:off x="7422337" y="234498"/>
              <a:ext cx="1756121" cy="318648"/>
            </a:xfrm>
            <a:prstGeom prst="rect">
              <a:avLst/>
            </a:prstGeom>
            <a:solidFill>
              <a:schemeClr val="lt1"/>
            </a:solidFill>
            <a:ln>
              <a:solidFill>
                <a:srgbClr val="e9ae2b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/>
                <a:t>지표 생성</a:t>
              </a:r>
              <a:endParaRPr lang="ko-KR" altLang="en-US" sz="1500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7422337" y="1586706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f2ce80"/>
            </a:solidFill>
            <a:ln>
              <a:solidFill>
                <a:srgbClr val="e9ae2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/>
                <a:t>PCA</a:t>
              </a:r>
              <a:r>
                <a:rPr lang="ko-KR" altLang="en-US"/>
                <a:t> 분석</a:t>
              </a:r>
              <a:endParaRPr lang="ko-KR" altLang="en-US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7422337" y="2967513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f2ce80"/>
            </a:solidFill>
            <a:ln>
              <a:solidFill>
                <a:srgbClr val="e9ae2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/>
                <a:t>M C D M</a:t>
              </a:r>
              <a:endParaRPr lang="en-US" altLang="ko-KR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7422337" y="4348321"/>
              <a:ext cx="1756121" cy="922972"/>
            </a:xfrm>
            <a:prstGeom prst="roundRect">
              <a:avLst>
                <a:gd name="adj" fmla="val 16667"/>
              </a:avLst>
            </a:prstGeom>
            <a:solidFill>
              <a:srgbClr val="f2ce80"/>
            </a:solidFill>
            <a:ln>
              <a:solidFill>
                <a:srgbClr val="e9ae2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/>
                <a:t>KMeans</a:t>
              </a:r>
              <a:r>
                <a:rPr lang="ko-KR" altLang="en-US"/>
                <a:t>군집화</a:t>
              </a:r>
              <a:endParaRPr lang="ko-KR" altLang="en-US"/>
            </a:p>
          </p:txBody>
        </p:sp>
      </p:grpSp>
      <p:cxnSp>
        <p:nvCxnSpPr>
          <p:cNvPr id="38" name="양방향 화살표 16"/>
          <p:cNvCxnSpPr>
            <a:stCxn id="26" idx="3"/>
          </p:cNvCxnSpPr>
          <p:nvPr/>
        </p:nvCxnSpPr>
        <p:spPr>
          <a:xfrm>
            <a:off x="9477859" y="3431602"/>
            <a:ext cx="291142" cy="158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"/>
          <p:cNvGrpSpPr/>
          <p:nvPr/>
        </p:nvGrpSpPr>
        <p:grpSpPr>
          <a:xfrm rot="0">
            <a:off x="9785017" y="230309"/>
            <a:ext cx="2057033" cy="6232280"/>
            <a:chOff x="9604041" y="230308"/>
            <a:chExt cx="2057033" cy="6232280"/>
          </a:xfrm>
        </p:grpSpPr>
        <p:sp>
          <p:nvSpPr>
            <p:cNvPr id="35" name="모서리가 둥근 직사각형 34"/>
            <p:cNvSpPr/>
            <p:nvPr/>
          </p:nvSpPr>
          <p:spPr>
            <a:xfrm>
              <a:off x="9604041" y="392234"/>
              <a:ext cx="2057033" cy="607035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 w="6350">
              <a:solidFill>
                <a:srgbClr val="2e3e67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ln w="9525">
                  <a:solidFill>
                    <a:schemeClr val="dk1"/>
                  </a:solidFill>
                </a:ln>
              </a:endParaRPr>
            </a:p>
          </p:txBody>
        </p:sp>
        <p:sp>
          <p:nvSpPr>
            <p:cNvPr id="36" name="가로 글상자 35"/>
            <p:cNvSpPr txBox="1"/>
            <p:nvPr/>
          </p:nvSpPr>
          <p:spPr>
            <a:xfrm>
              <a:off x="9754497" y="230308"/>
              <a:ext cx="1756121" cy="318648"/>
            </a:xfrm>
            <a:prstGeom prst="rect">
              <a:avLst/>
            </a:prstGeom>
            <a:solidFill>
              <a:schemeClr val="lt1"/>
            </a:solidFill>
            <a:ln>
              <a:solidFill>
                <a:srgbClr val="2e3e67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/>
                <a:t>우수 지역 선정</a:t>
              </a:r>
              <a:endParaRPr lang="ko-KR" altLang="en-US" sz="1500"/>
            </a:p>
          </p:txBody>
        </p:sp>
        <p:grpSp>
          <p:nvGrpSpPr>
            <p:cNvPr id="42" name=""/>
            <p:cNvGrpSpPr/>
            <p:nvPr/>
          </p:nvGrpSpPr>
          <p:grpSpPr>
            <a:xfrm rot="0">
              <a:off x="9754498" y="2277110"/>
              <a:ext cx="1756121" cy="2303779"/>
              <a:chOff x="9754497" y="2200517"/>
              <a:chExt cx="1756121" cy="2303779"/>
            </a:xfrm>
          </p:grpSpPr>
          <p:sp>
            <p:nvSpPr>
              <p:cNvPr id="39" name="모서리가 둥근 직사각형 38"/>
              <p:cNvSpPr/>
              <p:nvPr/>
            </p:nvSpPr>
            <p:spPr>
              <a:xfrm>
                <a:off x="9754497" y="2200517"/>
                <a:ext cx="1756121" cy="922972"/>
              </a:xfrm>
              <a:prstGeom prst="roundRect">
                <a:avLst>
                  <a:gd name="adj" fmla="val 16667"/>
                </a:avLst>
              </a:prstGeom>
              <a:solidFill>
                <a:srgbClr val="6182d6"/>
              </a:solidFill>
              <a:ln>
                <a:solidFill>
                  <a:srgbClr val="3f507e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/>
                  <a:t>종합 점수 산출</a:t>
                </a:r>
                <a:endParaRPr lang="ko-KR" altLang="en-US"/>
              </a:p>
            </p:txBody>
          </p:sp>
          <p:sp>
            <p:nvSpPr>
              <p:cNvPr id="40" name="모서리가 둥근 직사각형 39"/>
              <p:cNvSpPr/>
              <p:nvPr/>
            </p:nvSpPr>
            <p:spPr>
              <a:xfrm>
                <a:off x="9754497" y="3581325"/>
                <a:ext cx="1756121" cy="922972"/>
              </a:xfrm>
              <a:prstGeom prst="roundRect">
                <a:avLst>
                  <a:gd name="adj" fmla="val 16667"/>
                </a:avLst>
              </a:prstGeom>
              <a:solidFill>
                <a:srgbClr val="6182d6"/>
              </a:solidFill>
              <a:ln>
                <a:solidFill>
                  <a:srgbClr val="3f507e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/>
                  <a:t>추천 지역</a:t>
                </a:r>
                <a:endParaRPr lang="ko-KR" altLang="en-US"/>
              </a:p>
              <a:p>
                <a:pPr lvl="0" algn="ctr">
                  <a:defRPr/>
                </a:pPr>
                <a:r>
                  <a:rPr lang="en-US" altLang="ko-KR"/>
                  <a:t>TOP5</a:t>
                </a:r>
                <a:endParaRPr lang="en-US" altLang="ko-KR"/>
              </a:p>
            </p:txBody>
          </p:sp>
        </p:grpSp>
      </p:grpSp>
      <p:sp>
        <p:nvSpPr>
          <p:cNvPr id="48" name="모서리가 둥근 직사각형 47"/>
          <p:cNvSpPr/>
          <p:nvPr/>
        </p:nvSpPr>
        <p:spPr>
          <a:xfrm>
            <a:off x="5217939" y="5449253"/>
            <a:ext cx="1756121" cy="922972"/>
          </a:xfrm>
          <a:prstGeom prst="roundRect">
            <a:avLst>
              <a:gd name="adj" fmla="val 16667"/>
            </a:avLst>
          </a:prstGeom>
          <a:solidFill>
            <a:srgbClr val="4f7429"/>
          </a:solidFill>
          <a:ln>
            <a:solidFill>
              <a:srgbClr val="354e1b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b="1"/>
              <a:t>교통</a:t>
            </a:r>
            <a:endParaRPr lang="ko-KR" altLang="en-US"/>
          </a:p>
          <a:p>
            <a:pPr lvl="0" algn="ctr">
              <a:defRPr/>
            </a:pPr>
            <a:r>
              <a:rPr lang="en-US" altLang="ko-KR" sz="1300"/>
              <a:t>(</a:t>
            </a:r>
            <a:r>
              <a:rPr lang="ko-KR" altLang="en-US" sz="1300"/>
              <a:t>지하철 수</a:t>
            </a:r>
            <a:r>
              <a:rPr lang="en-US" altLang="ko-KR" sz="1300"/>
              <a:t>)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364223695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/>
          <p:cNvSpPr/>
          <p:nvPr/>
        </p:nvSpPr>
        <p:spPr>
          <a:xfrm>
            <a:off x="2793999" y="2456701"/>
            <a:ext cx="6604001" cy="1944597"/>
          </a:xfrm>
          <a:prstGeom prst="roundRect">
            <a:avLst>
              <a:gd name="adj" fmla="val 16667"/>
            </a:avLst>
          </a:prstGeom>
          <a:solidFill>
            <a:srgbClr val="f9f8f3"/>
          </a:solidFill>
          <a:ln w="38100">
            <a:solidFill>
              <a:srgbClr val="e3dcc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6729" y="2658449"/>
            <a:ext cx="1546482" cy="106021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53785" y="2658450"/>
            <a:ext cx="1590326" cy="106021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684684" y="2658449"/>
            <a:ext cx="1209844" cy="100026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1915938" y="3245708"/>
            <a:ext cx="1756121" cy="366584"/>
          </a:xfrm>
          <a:prstGeom prst="rect">
            <a:avLst/>
          </a:prstGeom>
          <a:solidFill>
            <a:schemeClr val="lt1"/>
          </a:solidFill>
          <a:ln>
            <a:solidFill>
              <a:srgbClr val="e3dcc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/>
              <a:t>결과 시각화</a:t>
            </a:r>
            <a:endParaRPr lang="ko-KR" altLang="en-US"/>
          </a:p>
        </p:txBody>
      </p:sp>
      <p:sp>
        <p:nvSpPr>
          <p:cNvPr id="15" name="가로 글상자 14"/>
          <p:cNvSpPr txBox="1"/>
          <p:nvPr/>
        </p:nvSpPr>
        <p:spPr>
          <a:xfrm>
            <a:off x="4066729" y="3919715"/>
            <a:ext cx="1546482" cy="336055"/>
          </a:xfrm>
          <a:prstGeom prst="rect">
            <a:avLst/>
          </a:prstGeom>
          <a:solidFill>
            <a:schemeClr val="lt1"/>
          </a:solidFill>
          <a:ln>
            <a:solidFill>
              <a:srgbClr val="e3dcc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/>
              <a:t>추천 지도</a:t>
            </a:r>
            <a:endParaRPr lang="ko-KR" altLang="en-US" sz="1600"/>
          </a:p>
        </p:txBody>
      </p:sp>
      <p:sp>
        <p:nvSpPr>
          <p:cNvPr id="17" name="가로 글상자 16"/>
          <p:cNvSpPr txBox="1"/>
          <p:nvPr/>
        </p:nvSpPr>
        <p:spPr>
          <a:xfrm>
            <a:off x="5853785" y="3919715"/>
            <a:ext cx="1546482" cy="336055"/>
          </a:xfrm>
          <a:prstGeom prst="rect">
            <a:avLst/>
          </a:prstGeom>
          <a:solidFill>
            <a:schemeClr val="lt1"/>
          </a:solidFill>
          <a:ln>
            <a:solidFill>
              <a:srgbClr val="e3dcc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/>
              <a:t>분석 차트</a:t>
            </a:r>
            <a:endParaRPr lang="ko-KR" altLang="en-US" sz="1600"/>
          </a:p>
        </p:txBody>
      </p:sp>
      <p:sp>
        <p:nvSpPr>
          <p:cNvPr id="18" name="가로 글상자 17"/>
          <p:cNvSpPr txBox="1"/>
          <p:nvPr/>
        </p:nvSpPr>
        <p:spPr>
          <a:xfrm>
            <a:off x="7516365" y="3919715"/>
            <a:ext cx="1546482" cy="336055"/>
          </a:xfrm>
          <a:prstGeom prst="rect">
            <a:avLst/>
          </a:prstGeom>
          <a:solidFill>
            <a:schemeClr val="lt1"/>
          </a:solidFill>
          <a:ln>
            <a:solidFill>
              <a:srgbClr val="e3dcc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/>
              <a:t>관련 정책 설계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43189625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71</ep:Words>
  <ep:PresentationFormat>화면 슬라이드 쇼(4:3)</ep:PresentationFormat>
  <ep:Paragraphs>7</ep:Paragraphs>
  <ep:Slides>2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2026-01-19T04:20:46.330</dcterms:created>
  <dc:creator>82109</dc:creator>
  <cp:lastModifiedBy>82109</cp:lastModifiedBy>
  <dcterms:modified xsi:type="dcterms:W3CDTF">2026-01-20T00:31:05.737</dcterms:modified>
  <cp:revision>12</cp:revision>
  <cp:version>12.0.0.4426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